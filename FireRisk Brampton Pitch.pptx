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Lato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6.xml"/><Relationship Id="rId22" Type="http://schemas.openxmlformats.org/officeDocument/2006/relationships/font" Target="fonts/Urbanist-italic.fntdata"/><Relationship Id="rId10" Type="http://schemas.openxmlformats.org/officeDocument/2006/relationships/slide" Target="slides/slide5.xml"/><Relationship Id="rId21" Type="http://schemas.openxmlformats.org/officeDocument/2006/relationships/font" Target="fonts/Urbanis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jp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hyperlink" Target="https://geohub.brampton.ca/datasets/official-plan-schedule-a-general-land-use/about" TargetMode="External"/><Relationship Id="rId5" Type="http://schemas.openxmlformats.org/officeDocument/2006/relationships/hyperlink" Target="https://geohub.brampton.ca/datasets/brampton::ward-boundaries/abou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96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50594" y="2266950"/>
            <a:ext cx="649081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FireRisk Brampton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05137" y="3371850"/>
            <a:ext cx="618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Predictive Mapping for a Safer City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96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25" y="1877163"/>
            <a:ext cx="52863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Fires in Brampton pose a significant threat to life and property. 2012-20</a:t>
            </a:r>
            <a:r>
              <a:rPr lang="en-US" sz="18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16</a:t>
            </a: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was a tragic year with around </a:t>
            </a:r>
            <a:r>
              <a:rPr b="1" lang="en-US" sz="1800">
                <a:solidFill>
                  <a:srgbClr val="FF4136"/>
                </a:solidFill>
                <a:latin typeface="Lato"/>
                <a:ea typeface="Lato"/>
                <a:cs typeface="Lato"/>
                <a:sym typeface="Lato"/>
              </a:rPr>
              <a:t> 595</a:t>
            </a:r>
            <a:r>
              <a:rPr b="1" i="0" lang="en-US" sz="1800" u="none" cap="none" strike="noStrike">
                <a:solidFill>
                  <a:srgbClr val="FF4136"/>
                </a:solidFill>
                <a:latin typeface="Lato"/>
                <a:ea typeface="Lato"/>
                <a:cs typeface="Lato"/>
                <a:sym typeface="Lato"/>
              </a:rPr>
              <a:t> fire-related </a:t>
            </a:r>
            <a:r>
              <a:rPr b="1" lang="en-US" sz="1800">
                <a:solidFill>
                  <a:srgbClr val="FF4136"/>
                </a:solidFill>
                <a:latin typeface="Lato"/>
                <a:ea typeface="Lato"/>
                <a:cs typeface="Lato"/>
                <a:sym typeface="Lato"/>
              </a:rPr>
              <a:t>incidents</a:t>
            </a: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488" y="3246165"/>
            <a:ext cx="52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This risk is amplified by: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6112" y="2476501"/>
            <a:ext cx="23812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14375" y="3785748"/>
            <a:ext cx="23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🔥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728973"/>
            <a:ext cx="476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Unattended cooking. </a:t>
            </a:r>
            <a:endParaRPr sz="15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32% of total reported fires and 45% of 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associated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deaths</a:t>
            </a:r>
            <a:endParaRPr sz="15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14375" y="4816673"/>
            <a:ext cx="238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🔥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816673"/>
            <a:ext cx="4762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Hidden dangers from unregistered secondary units.</a:t>
            </a:r>
            <a:endParaRPr b="0" i="0" sz="1500" u="none" cap="none" strike="noStrike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10% from unregistered basements. </a:t>
            </a:r>
            <a:endParaRPr sz="15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14375" y="5552323"/>
            <a:ext cx="23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🔥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5558173"/>
            <a:ext cx="4762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need to move from reactive to proactive prevention.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Problem: An Urgent Risk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809750" y="2552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dynamic, multi-layered predictive map for Brampton.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2190750" y="31813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Predictive Heat Map: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Identifies high-probability fire zones </a:t>
            </a:r>
            <a:r>
              <a:rPr b="0" i="1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before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 fire starts using a weighted risk formula.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2190750" y="39433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Historical Data Overlay: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Validates the model by cross-referencing high-risk zones with actual past fire incidents.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2190750" y="47053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Data-Driven Insights: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Built using real-world satellite data to pinpoint where prevention is needed most.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89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909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529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Our Solution: The FireRisk Map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96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4112"/>
            <a:ext cx="34290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24112"/>
            <a:ext cx="34290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24112"/>
            <a:ext cx="34290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75823" y="3433762"/>
            <a:ext cx="282035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DC00"/>
                </a:solidFill>
                <a:latin typeface="Urbanist"/>
                <a:ea typeface="Urbanist"/>
                <a:cs typeface="Urbanist"/>
                <a:sym typeface="Urbanist"/>
              </a:rPr>
              <a:t>Powered by Satellite Data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4005262"/>
            <a:ext cx="283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This project is powered by data from space,  by analyzing satellite imagery to create real-world impact.</a:t>
            </a:r>
            <a:endParaRPr sz="12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EE and geeMap</a:t>
            </a:r>
            <a:endParaRPr sz="12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4990861" y="3433762"/>
            <a:ext cx="221027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DC00"/>
                </a:solidFill>
                <a:latin typeface="Urbanist"/>
                <a:ea typeface="Urbanist"/>
                <a:cs typeface="Urbanist"/>
                <a:sym typeface="Urbanist"/>
              </a:rPr>
              <a:t>Google Earth Engine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76775" y="40052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We use the Google Earth Engine API to access and process petabytes of geospatial data streams efficiently.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945880" y="3433762"/>
            <a:ext cx="192024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DC00"/>
                </a:solidFill>
                <a:latin typeface="Urbanist"/>
                <a:ea typeface="Urbanist"/>
                <a:cs typeface="Urbanist"/>
                <a:sym typeface="Urbanist"/>
              </a:rPr>
              <a:t>Python Processing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86775" y="4005262"/>
            <a:ext cx="283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Python scripts are used to query the API, apply our custom risk formula, and render the final map layers.</a:t>
            </a:r>
            <a:b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Libraries used: NumPy </a:t>
            </a:r>
            <a:r>
              <a:rPr lang="en-US"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and MatPlotLib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7384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76925" y="2738437"/>
            <a:ext cx="4381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7384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Using Space to Solve Problems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782" y="4138612"/>
            <a:ext cx="1147643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1809750" y="3167062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Our model calculates a weighted risk score for every point on the map. This formula combines the key drivers of fire risk.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571500"/>
            <a:ext cx="11601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Risk Formula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1123950" y="5062537"/>
            <a:ext cx="9944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Fuel (dry vegetation) is the most heavily weighted factor, as it's a primary driver of fire spread. Density acts as a proxy for human activity.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What Matters Most: Risk Factor Weighting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71500" y="1781175"/>
            <a:ext cx="5550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DC00"/>
                </a:solidFill>
                <a:latin typeface="Urbanist"/>
                <a:ea typeface="Urbanist"/>
                <a:cs typeface="Urbanist"/>
                <a:sym typeface="Urbanist"/>
              </a:rPr>
              <a:t>1. The Risk Heat Map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71500" y="2333625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predictive layer where 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lighter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colors 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indicate a higher calculated probability of a fire starting.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71500" y="3095625"/>
            <a:ext cx="5550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DC00"/>
                </a:solidFill>
                <a:latin typeface="Urbanist"/>
                <a:ea typeface="Urbanist"/>
                <a:cs typeface="Urbanist"/>
                <a:sym typeface="Urbanist"/>
              </a:rPr>
              <a:t>2. The Incident Overlay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571500" y="3648075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transparent layer of blue dots marks actual, historical fire locations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from 2012 to 2016.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4410075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DC00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b="1" i="0" lang="en-US" sz="2400" u="none" cap="none" strike="noStrike">
                <a:solidFill>
                  <a:srgbClr val="FFDC00"/>
                </a:solidFill>
                <a:latin typeface="Urbanist"/>
                <a:ea typeface="Urbanist"/>
                <a:cs typeface="Urbanist"/>
                <a:sym typeface="Urbanist"/>
              </a:rPr>
              <a:t>The Insight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4962525"/>
            <a:ext cx="528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Where red zones and past fires overlap, our model is validated. Where red zones exist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without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past fires, it highlights a critical area for future prevention.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Visualizing The Risk</a:t>
            </a:r>
            <a:endParaRPr/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7200" y="843900"/>
            <a:ext cx="5170200" cy="537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25500" y="843900"/>
            <a:ext cx="685800" cy="53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8412"/>
            <a:ext cx="342900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538412"/>
            <a:ext cx="342900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538412"/>
            <a:ext cx="342900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1090850" y="3548062"/>
            <a:ext cx="23902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DC00"/>
                </a:solidFill>
                <a:latin typeface="Urbanist"/>
                <a:ea typeface="Urbanist"/>
                <a:cs typeface="Urbanist"/>
                <a:sym typeface="Urbanist"/>
              </a:rPr>
              <a:t>Brampton Fire Service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866775" y="41195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Allocate resources, plan proactive inspections, and target high-risk "Hot Zone" neighbourhoods.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275897" y="3548062"/>
            <a:ext cx="16402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DC00"/>
                </a:solidFill>
                <a:latin typeface="Urbanist"/>
                <a:ea typeface="Urbanist"/>
                <a:cs typeface="Urbanist"/>
                <a:sym typeface="Urbanist"/>
              </a:rPr>
              <a:t>Urban Planners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76775" y="41195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Make data-informed decisions about new developments, fire breaks, and green space management.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9350930" y="3548062"/>
            <a:ext cx="11101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DC00"/>
                </a:solidFill>
                <a:latin typeface="Urbanist"/>
                <a:ea typeface="Urbanist"/>
                <a:cs typeface="Urbanist"/>
                <a:sym typeface="Urbanist"/>
              </a:rPr>
              <a:t>The Public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8486775" y="41195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Enable targeted public awareness campaigns (like 'Home Safe Home') in the areas that need them most.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8527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8527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8527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Making a Lasting Impact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/>
          <p:nvPr/>
        </p:nvSpPr>
        <p:spPr>
          <a:xfrm>
            <a:off x="571500" y="387667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44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88644" y="4133850"/>
            <a:ext cx="328041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851B"/>
                </a:solidFill>
                <a:latin typeface="Urbanist"/>
                <a:ea typeface="Urbanist"/>
                <a:cs typeface="Urbanist"/>
                <a:sym typeface="Urbanist"/>
              </a:rPr>
              <a:t>Phase 1: Real-Time Data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66750" y="4562475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Integrate live weather feeds and drought indices for a truly dynamic risk score.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317682" y="2619375"/>
            <a:ext cx="328041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851B"/>
                </a:solidFill>
                <a:latin typeface="Urbanist"/>
                <a:ea typeface="Urbanist"/>
                <a:cs typeface="Urbanist"/>
                <a:sym typeface="Urbanist"/>
              </a:rPr>
              <a:t>Phase 2: Machine Learning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395787" y="3048000"/>
            <a:ext cx="312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Implement ML to analyze incident data and automatically refine the risk-weighting formula.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8046720" y="4133850"/>
            <a:ext cx="328041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851B"/>
                </a:solidFill>
                <a:latin typeface="Urbanist"/>
                <a:ea typeface="Urbanist"/>
                <a:cs typeface="Urbanist"/>
                <a:sym typeface="Urbanist"/>
              </a:rPr>
              <a:t>Phase 3: Public Alerts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124825" y="4562475"/>
            <a:ext cx="312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Develop a public-facing, simplified map and alert system to notify residents in high-risk zones.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2133600" y="3800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FF8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862637" y="3800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FF8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9591675" y="3800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A1A1A"/>
          </a:solidFill>
          <a:ln cap="flat" cmpd="sng" w="38100">
            <a:solidFill>
              <a:srgbClr val="FF8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Future of FireRisk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295200" y="36195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851B"/>
                </a:solidFill>
                <a:latin typeface="Urbanist"/>
                <a:ea typeface="Urbanist"/>
                <a:cs typeface="Urbanist"/>
                <a:sym typeface="Urbanist"/>
              </a:rPr>
              <a:t>References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2190975"/>
            <a:ext cx="110490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https://geohub.brampton.ca/datasets/official-plan-schedule-a-general-land-use/about</a:t>
            </a:r>
            <a:endParaRPr sz="2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https://geohub.brampton.ca/datasets/brampton::ward-boundaries/about</a:t>
            </a:r>
            <a:endParaRPr sz="2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https://geohub.brampton.ca/datasets/c0becda03ea944cca84bcff7d42f61b2_0/explore?location=43.736632%2C-79.736438%2C12.04</a:t>
            </a:r>
            <a:endParaRPr sz="2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